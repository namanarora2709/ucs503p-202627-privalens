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4389120" cy="365760"/>
          </a:xfrm>
          <a:prstGeom prst="roundRect">
            <a:avLst/>
          </a:prstGeom>
          <a:solidFill>
            <a:srgbClr val="2D3B52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SOFTWARE ENGINEERING (UCS503) •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PrivaLens</a:t>
            </a:r>
          </a:p>
          <a:p>
            <a:pPr>
              <a:spcBef>
                <a:spcPts val="400"/>
              </a:spcBef>
              <a:defRPr sz="1700" b="1">
                <a:solidFill>
                  <a:srgbClr val="38BDF8"/>
                </a:solidFill>
                <a:latin typeface="Segoe UI"/>
              </a:defRPr>
            </a:pPr>
            <a:r>
              <a:t>Automated Web Privacy &amp; Regulatory Compliance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3328416" cy="1325880"/>
          </a:xfrm>
          <a:prstGeom prst="roundRect">
            <a:avLst/>
          </a:prstGeom>
          <a:solidFill>
            <a:srgbClr val="2D3B52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61488"/>
            <a:ext cx="73152" cy="110642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300837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Naman Arora</a:t>
            </a:r>
          </a:p>
          <a:p>
            <a:pPr>
              <a:spcBef>
                <a:spcPts val="3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Roll No: 1024160029</a:t>
            </a:r>
          </a:p>
          <a:p>
            <a:pPr>
              <a:spcBef>
                <a:spcPts val="200"/>
              </a:spcBef>
              <a:defRPr sz="1150">
                <a:solidFill>
                  <a:srgbClr val="BECCDE"/>
                </a:solidFill>
                <a:latin typeface="Segoe UI"/>
              </a:defRPr>
            </a:pPr>
            <a:r>
              <a:t>Frontend &amp; UI Reports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651760"/>
            <a:ext cx="3328416" cy="1325880"/>
          </a:xfrm>
          <a:prstGeom prst="roundRect">
            <a:avLst/>
          </a:prstGeom>
          <a:solidFill>
            <a:srgbClr val="2D3B52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2761488"/>
            <a:ext cx="73152" cy="110642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788920"/>
            <a:ext cx="300837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Prabhrajwin Singh</a:t>
            </a:r>
          </a:p>
          <a:p>
            <a:pPr>
              <a:spcBef>
                <a:spcPts val="3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Roll No: 1024160024</a:t>
            </a:r>
          </a:p>
          <a:p>
            <a:pPr>
              <a:spcBef>
                <a:spcPts val="200"/>
              </a:spcBef>
              <a:defRPr sz="1150">
                <a:solidFill>
                  <a:srgbClr val="BECCDE"/>
                </a:solidFill>
                <a:latin typeface="Segoe UI"/>
              </a:defRPr>
            </a:pPr>
            <a:r>
              <a:t>Puppeteer &amp; Async Queue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651760"/>
            <a:ext cx="3328416" cy="1325880"/>
          </a:xfrm>
          <a:prstGeom prst="roundRect">
            <a:avLst/>
          </a:prstGeom>
          <a:solidFill>
            <a:srgbClr val="2D3B52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4" y="2761488"/>
            <a:ext cx="73152" cy="110642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788920"/>
            <a:ext cx="3008376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Ishmanjot Singh</a:t>
            </a:r>
          </a:p>
          <a:p>
            <a:pPr>
              <a:spcBef>
                <a:spcPts val="3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Roll No: 1024160016</a:t>
            </a:r>
          </a:p>
          <a:p>
            <a:pPr>
              <a:spcBef>
                <a:spcPts val="200"/>
              </a:spcBef>
              <a:defRPr sz="1150">
                <a:solidFill>
                  <a:srgbClr val="BECCDE"/>
                </a:solidFill>
                <a:latin typeface="Segoe UI"/>
              </a:defRPr>
            </a:pPr>
            <a:r>
              <a:t>NLP Policy Engine &amp;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166360" cy="17373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38BDF8"/>
                </a:solidFill>
                <a:latin typeface="Segoe UI"/>
              </a:defRPr>
            </a:pPr>
            <a:r>
              <a:t>What is PrivaLens?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An automated web platform where users enter any website URL. Headless Puppeteer navigates the site, intercepts all live HTTP/WebSocket requests, identifies hidden trackers and PII leaks, and cross-checks actual data flows against the site's stated Privacy Policy using NLP.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4251960"/>
            <a:ext cx="5166360" cy="17373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434840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2DD4BF"/>
                </a:solidFill>
                <a:latin typeface="Segoe UI"/>
              </a:defRPr>
            </a:pPr>
            <a:r>
              <a:t>Continuous Evaluation Objective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Demonstrates complete software engineering execution: asynchronous distributed job queues (Bull/Redis) to handle non-blocking browser scraping, decoupled Python NLP microservice for legal text parsing, and structured PostgreSQL storage.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CDE"/>
                </a:solidFill>
                <a:latin typeface="Segoe UI"/>
              </a:defRPr>
            </a:pPr>
            <a:r>
              <a:t>PrivaLens  •  Software Engineering (UCS503)  •  Proposal Presentation  •  All Group Members Present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Segoe UI"/>
              </a:defRPr>
            </a:pPr>
            <a:r>
              <a:t>SOFTWARE ENGINEERING (UCS503)  •  MOTIVATION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Motivation: Why Build PrivaLens?</a:t>
            </a:r>
          </a:p>
          <a:p>
            <a:pPr>
              <a:spcBef>
                <a:spcPts val="300"/>
              </a:spcBef>
              <a:defRPr sz="1300">
                <a:solidFill>
                  <a:srgbClr val="BECCDE"/>
                </a:solidFill>
                <a:latin typeface="Segoe UI"/>
              </a:defRPr>
            </a:pPr>
            <a:r>
              <a:t>Addressing modern privacy regulations, technical challenges, and software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10512"/>
            <a:ext cx="2962656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1. Stricter Privacy Regulations</a:t>
            </a:r>
          </a:p>
          <a:p>
            <a:pPr>
              <a:spcBef>
                <a:spcPts val="300"/>
              </a:spcBef>
              <a:defRPr sz="1200" b="1">
                <a:solidFill>
                  <a:srgbClr val="60A5FA"/>
                </a:solidFill>
                <a:latin typeface="Segoe UI"/>
              </a:defRPr>
            </a:pPr>
            <a:r>
              <a:t>Urgent Industry Need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Laws like EU GDPR, India's DPDP Act 2023, and CCPA impose massive penalties for unconsented data tracking.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Small businesses &amp; startups cannot afford expensive manual legal audits ($5k–$15k per audit).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Provides an automated self-serve tool that developers can run before deploying new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9432" y="1810512"/>
            <a:ext cx="2962656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2. Novel Multi-Tech Integration</a:t>
            </a:r>
          </a:p>
          <a:p>
            <a:pPr>
              <a:spcBef>
                <a:spcPts val="300"/>
              </a:spcBef>
              <a:defRPr sz="1200" b="1">
                <a:solidFill>
                  <a:srgbClr val="2DD4BF"/>
                </a:solidFill>
                <a:latin typeface="Segoe UI"/>
              </a:defRPr>
            </a:pPr>
            <a:r>
              <a:t>Scraping + NLP + Legal Tech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Combines headless browser automation with natural language understanding of legal privacy policies.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Goes beyond static code linters by auditing real runtime HTTP packets and dynamic third-party scripts.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Highly practical project demonstrating real-world cybersecurity and data engineering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4464" y="1810512"/>
            <a:ext cx="2962656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3. Asynchronous Architecture</a:t>
            </a:r>
          </a:p>
          <a:p>
            <a:pPr>
              <a:spcBef>
                <a:spcPts val="300"/>
              </a:spcBef>
              <a:defRPr sz="1200" b="1">
                <a:solidFill>
                  <a:srgbClr val="FBBF24"/>
                </a:solidFill>
                <a:latin typeface="Segoe UI"/>
              </a:defRPr>
            </a:pPr>
            <a:r>
              <a:t>Distributed Systems Practice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Crawling dynamic web pages and sniffing network traffic takes time (15–60 seconds per site).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Implements decoupled worker queues (Bull/Redis) to prevent UI blocking during heavy scans.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Direct application of core software engineering and microservices principles.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Segoe UI"/>
              </a:defRPr>
            </a:pPr>
            <a:r>
              <a:t>SOFTWARE ENGINEERING (UCS503)  •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Problem Statement: The Web Privacy Compliance Gap</a:t>
            </a:r>
          </a:p>
          <a:p>
            <a:pPr>
              <a:spcBef>
                <a:spcPts val="300"/>
              </a:spcBef>
              <a:defRPr sz="1300">
                <a:solidFill>
                  <a:srgbClr val="BECCDE"/>
                </a:solidFill>
                <a:latin typeface="Segoe UI"/>
              </a:defRPr>
            </a:pPr>
            <a:r>
              <a:t>Modern web applications frequently leak user data without the developers or owners realizing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10512"/>
            <a:ext cx="2962656" cy="5486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1. Hidden PII Leaks &amp; Trackers</a:t>
            </a:r>
          </a:p>
          <a:p>
            <a:pPr>
              <a:spcBef>
                <a:spcPts val="300"/>
              </a:spcBef>
              <a:defRPr sz="1200" b="1">
                <a:solidFill>
                  <a:srgbClr val="FBBF24"/>
                </a:solidFill>
                <a:latin typeface="Segoe UI"/>
              </a:defRPr>
            </a:pPr>
            <a:r>
              <a:t>Unmonitored runtime data leaks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Third-Party Scripts: Websites embed analytics, chat widgets, and ad tags that quietly harvest user data.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Query Parameter Leaks: Personal data (emails, usernames, IPs) often gets leaked in plain HTTP GET parameters.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Unauthorized Cookies: Tracking cookies are often stored before users give explicit consent.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9432" y="1810512"/>
            <a:ext cx="2962656" cy="54864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2. Policy vs. Reality Discrepancy</a:t>
            </a:r>
          </a:p>
          <a:p>
            <a:pPr>
              <a:spcBef>
                <a:spcPts val="300"/>
              </a:spcBef>
              <a:defRPr sz="1200" b="1">
                <a:solidFill>
                  <a:srgbClr val="FB7185"/>
                </a:solidFill>
                <a:latin typeface="Segoe UI"/>
              </a:defRPr>
            </a:pPr>
            <a:r>
              <a:t>Privacy policy contradicts live code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False Claims: Policies often state 'We do not share your personal data with any third parties'.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Live Network Reality: Runtime logs show data packets firing directly to external ad brokers &amp; analytics endpoints.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Severe Legal Risk: Direct violation of DPDP Act and GDPR deceptive trade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448056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4464" y="1810512"/>
            <a:ext cx="2962656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38528"/>
            <a:ext cx="2871216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3. Lack of Accessible Audit Tools</a:t>
            </a:r>
          </a:p>
          <a:p>
            <a:pPr>
              <a:spcBef>
                <a:spcPts val="300"/>
              </a:spcBef>
              <a:defRPr sz="1200" b="1">
                <a:solidFill>
                  <a:srgbClr val="60A5FA"/>
                </a:solidFill>
                <a:latin typeface="Segoe UI"/>
              </a:defRPr>
            </a:pPr>
            <a:r>
              <a:t>High cost and static tool limitations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Manual Audits are Prohibitive: Security firms charge thousands of dollars, making regular checks impossible.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Static Scanners Miss Runtime Calls: Standard linters only read code files and cannot track dynamic network beacons.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Need for Automated Testing: Developers lack an automated way to verify compliance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38BDF8"/>
                </a:solidFill>
                <a:latin typeface="Segoe UI"/>
              </a:defRPr>
            </a:pPr>
            <a:r>
              <a:t>SOFTWARE ENGINEERING (UCS503)  •  PROPOSED SOLUTION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Proposed Solution: PrivaLens System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BECCDE"/>
                </a:solidFill>
                <a:latin typeface="Segoe UI"/>
              </a:defRPr>
            </a:pPr>
            <a:r>
              <a:t>A 3-tier architecture combining headless crawling, asynchronous job queues, and NLP policy parsing.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361188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92224"/>
            <a:ext cx="2962656" cy="457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2871216" cy="3264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Frontend Dashboard</a:t>
            </a:r>
          </a:p>
          <a:p>
            <a:pPr>
              <a:spcBef>
                <a:spcPts val="200"/>
              </a:spcBef>
              <a:defRPr sz="1200" b="1">
                <a:solidFill>
                  <a:srgbClr val="60A5FA"/>
                </a:solidFill>
                <a:latin typeface="Segoe UI"/>
              </a:defRPr>
            </a:pPr>
            <a:r>
              <a:t>React / Next.js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Simple URL input box with live WebSocket scan progress.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Interactive compliance scorecard with risk levels (High / Med / Low).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Visual table of all detected trackers, cookies, and leaked fields.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Downloadable PDF report with actionable developer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645920"/>
            <a:ext cx="3328416" cy="361188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9432" y="1792224"/>
            <a:ext cx="2962656" cy="457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01952"/>
            <a:ext cx="2871216" cy="3264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Headless Engine &amp; Queue</a:t>
            </a:r>
          </a:p>
          <a:p>
            <a:pPr>
              <a:spcBef>
                <a:spcPts val="200"/>
              </a:spcBef>
              <a:defRPr sz="1200" b="1">
                <a:solidFill>
                  <a:srgbClr val="2DD4BF"/>
                </a:solidFill>
                <a:latin typeface="Segoe UI"/>
              </a:defRPr>
            </a:pPr>
            <a:r>
              <a:t>Node.js + Puppeteer + Redis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Puppeteer Headless Crawler: Loads the page, executes JS, and logs every outgoing network request.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Payload Inspector: Checks headers, query parameters, and cookie storage for PII.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Bull/Redis Queue: Runs crawls asynchronously in the background.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645920"/>
            <a:ext cx="3328416" cy="3611880"/>
          </a:xfrm>
          <a:prstGeom prst="roundRect">
            <a:avLst/>
          </a:prstGeom>
          <a:solidFill>
            <a:srgbClr val="2D3B5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4464" y="1792224"/>
            <a:ext cx="2962656" cy="457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901952"/>
            <a:ext cx="2871216" cy="3264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NLP Engine &amp; Storage</a:t>
            </a:r>
          </a:p>
          <a:p>
            <a:pPr>
              <a:spcBef>
                <a:spcPts val="200"/>
              </a:spcBef>
              <a:defRPr sz="1200" b="1">
                <a:solidFill>
                  <a:srgbClr val="FBBF24"/>
                </a:solidFill>
                <a:latin typeface="Segoe UI"/>
              </a:defRPr>
            </a:pPr>
            <a:r>
              <a:t>Python / NLP + PostgreSQL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Policy Scraper &amp; NLP Parser: Extracts data-handling statements from the website's Privacy Policy page.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Discrepancy Matrix: Compares NLP claims against detected network trackers.</a:t>
            </a:r>
          </a:p>
          <a:p>
            <a:pPr>
              <a:spcBef>
                <a:spcPts val="600"/>
              </a:spcBef>
              <a:defRPr sz="1250">
                <a:solidFill>
                  <a:srgbClr val="F1F5F9"/>
                </a:solidFill>
                <a:latin typeface="Segoe UI"/>
              </a:defRPr>
            </a:pPr>
            <a:r>
              <a:t>• PostgreSQL: Saves scan history and compliance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10698480" cy="868680"/>
          </a:xfrm>
          <a:prstGeom prst="roundRect">
            <a:avLst/>
          </a:prstGeom>
          <a:solidFill>
            <a:srgbClr val="2D3B52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ROADMAP &amp; CONTINUOUS EVALUATION PHASES</a:t>
            </a:r>
          </a:p>
          <a:p>
            <a:pPr>
              <a:spcBef>
                <a:spcPts val="200"/>
              </a:spcBef>
              <a:defRPr sz="1200">
                <a:solidFill>
                  <a:srgbClr val="F1F5F9"/>
                </a:solidFill>
                <a:latin typeface="Segoe UI"/>
              </a:defRPr>
            </a:pPr>
            <a:r>
              <a:t>Phase 1: Puppeteer Network Interceptor  ➔  Phase 2: Bull/Redis Queue &amp; Postgres  ➔  Phase 3: Python NLP Policy Matcher  ➔  Phase 4: Next.js Scorecard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